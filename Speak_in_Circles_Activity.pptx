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457200"/>
            <a:ext cx="9144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5400" b="1">
                <a:solidFill>
                  <a:srgbClr val="00B4D8"/>
                </a:solidFill>
                <a:latin typeface="Calibri"/>
              </a:defRPr>
            </a:pPr>
            <a:r>
              <a:t>SPEAK in CIRCLES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0">
                <a:solidFill>
                  <a:srgbClr val="FF6B8A"/>
                </a:solidFill>
                <a:latin typeface="Calibri"/>
              </a:defRPr>
            </a:pPr>
            <a:r>
              <a:t>Say it without saying it!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286000"/>
            <a:ext cx="6400800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9144000" cy="38404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45920" y="2834640"/>
            <a:ext cx="64008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74320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Student A sees the picture and memorizes the object.</a:t>
            </a:r>
            <a:br/>
            <a:r>
              <a:t>Student B closes their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3749039"/>
            <a:ext cx="64008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65760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Student B opens their eyes.</a:t>
            </a:r>
            <a:br/>
            <a:r>
              <a:t>Student A gives hints without saying the name.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5920" y="4754880"/>
            <a:ext cx="640080" cy="640080"/>
          </a:xfrm>
          <a:prstGeom prst="roundRect">
            <a:avLst/>
          </a:prstGeom>
          <a:solidFill>
            <a:srgbClr val="87C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66344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Choices appear.</a:t>
            </a:r>
            <a:br/>
            <a:r>
              <a:t>If Student B picks the right one — Mission Complete!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94360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Calibri"/>
              </a:defRPr>
            </a:pPr>
            <a:r>
              <a:t>Speaking Activity  |  CEFR A1–A2  |  10 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woman riding a bicycle on a city street near a brick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Bicycle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Scooter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Bicycle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wheel — 車輪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faster than walking — 歩くより早い（比較）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Comparative: faster than ~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has two wheels. You move it with your legs and go faster than walking.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colorful umbrella on a rainy day in a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Umbrella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Raincoat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Umbrella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rain — 雨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keep ~ dry — ～を乾いた状態に保つ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When + present 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You use it when it rains. You open it above your head to keep dry.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grand piano in a concert hall with spotlight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Guitar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Drums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Piano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keys — 鍵盤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black and white — 白と黒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Subject + have/has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is a big musical instrument. It has black and white keys. You press them with your fingers.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Stylish sunglasses on a sunny beach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🕶️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Sunglasses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Earphones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Sunglasses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protect — 守る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bright — まぶしい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Plural: them/they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You wear them on your face. They protect your eyes from bright light on sunny days.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delicious cheese pizza with toppings on a wooden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Sushi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Hamburger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Pizza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Pizza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round — 丸い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slice — 一切れ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Passive meaning: It comes from ~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is round and you cut it into slices. It comes from Italy and has cheese on top.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person taking a photo with a digital camera at a tourist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Smartphone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Telescope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Camera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take a picture — 写真を撮る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moment — 瞬間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Infinitive: to + verb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You use it to take pictures. You press a button and it saves the moment.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large clock on a wall showing the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Calendar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Clock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Thermometer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Clock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hands — 針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tell the time — 時間を教える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Subject + tell + object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is on the wall. It has numbers and hands. It tells you the 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student carrying a backpack at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Suitcase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Backpack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Backpack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carry — 運ぶ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on your back — 背中に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Can + verb (ability)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Students carry it on their back. You can put books and lunch inside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 colorful ice cream cone with multiple scoops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Ice Cream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Chocolate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Ice Cream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cold — 冷たい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melt — 溶ける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Adverb: quickly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is very cold and sweet. It melts quickly in summer. You can choose many flavors.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👀 Student A: Look &amp; Memorize!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4754880"/>
          </a:xfrm>
          <a:prstGeom prst="roundRect">
            <a:avLst/>
          </a:prstGeom>
          <a:solidFill>
            <a:srgbClr val="FFFFFF"/>
          </a:solidFill>
          <a:ln w="508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📷 Photo: An airplane flying high above the clouds in a blue sky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560320"/>
            <a:ext cx="64008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0">
                <a:solidFill>
                  <a:srgbClr val="000000"/>
                </a:solidFill>
                <a:latin typeface="Calibri"/>
              </a:defRPr>
            </a:pPr>
            <a:r>
              <a:t>✈️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6B8A"/>
                </a:solidFill>
                <a:latin typeface="Calibri"/>
              </a:defRPr>
            </a:pPr>
            <a:r>
              <a:t>Student B: Please close your eyes!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5303520"/>
            <a:ext cx="1371600" cy="731520"/>
          </a:xfrm>
          <a:prstGeom prst="roundRect">
            <a:avLst/>
          </a:prstGeom>
          <a:solidFill>
            <a:srgbClr val="1A2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 sec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182880"/>
            <a:ext cx="3200400" cy="64008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🤔 Student B: Choose the answer!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229600" cy="1280160"/>
          </a:xfrm>
          <a:prstGeom prst="roundRect">
            <a:avLst/>
          </a:prstGeom>
          <a:solidFill>
            <a:srgbClr val="00B4D8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55448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00B4D8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7160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Airplane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017520"/>
            <a:ext cx="8229600" cy="1280160"/>
          </a:xfrm>
          <a:prstGeom prst="roundRect">
            <a:avLst/>
          </a:prstGeom>
          <a:solidFill>
            <a:srgbClr val="FF6B8A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0040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6B8A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Helicopter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8229600" cy="1280160"/>
          </a:xfrm>
          <a:prstGeom prst="roundRect">
            <a:avLst/>
          </a:prstGeom>
          <a:solidFill>
            <a:srgbClr val="87CEEB"/>
          </a:solidFill>
          <a:ln w="508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120" y="4846320"/>
            <a:ext cx="9144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87CEEB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663440"/>
            <a:ext cx="5943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✅ Correct Answer: 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82880"/>
            <a:ext cx="3200400" cy="640080"/>
          </a:xfrm>
          <a:prstGeom prst="roundRect">
            <a:avLst/>
          </a:prstGeom>
          <a:solidFill>
            <a:srgbClr val="00B4D8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SPEAK in CIRCLES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"/>
            <a:ext cx="822960" cy="640080"/>
          </a:xfrm>
          <a:prstGeom prst="roundRect">
            <a:avLst/>
          </a:prstGeom>
          <a:solidFill>
            <a:srgbClr val="1A23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#10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82880"/>
            <a:ext cx="5486400" cy="6400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33333"/>
                </a:solidFill>
              </a:rPr>
              <a:t>⭐ Model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914400"/>
            <a:ext cx="3931920" cy="45720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Grammar /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Answer: Airplane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103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fly — 飛ぶ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60320"/>
            <a:ext cx="182880" cy="18288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9144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wings — 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5029200" cy="4572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333333"/>
                </a:solidFill>
              </a:rPr>
              <a:t>📝 Can + verb (ability)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5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  <a:latin typeface="Calibri"/>
              </a:defRPr>
            </a:pPr>
            <a:r>
              <a:t>It has wings and it can fly. It carries many people to different countries very fast.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