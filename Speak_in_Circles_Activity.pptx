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00B4D8"/>
                </a:solidFill>
                <a:latin typeface="Calibri"/>
              </a:defRPr>
            </a:pPr>
            <a:r>
              <a:t>SPEAK in CIRCLES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FF6B8A"/>
                </a:solidFill>
                <a:latin typeface="Calibri"/>
              </a:defRPr>
            </a:pPr>
            <a:r>
              <a:t>Say it without saying it!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86000"/>
            <a:ext cx="6400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9144000" cy="3840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834640"/>
            <a:ext cx="64008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7432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Student A sees the picture and memorizes the object.</a:t>
            </a:r>
            <a:br/>
            <a:r>
              <a:t>Student B closes their eyes.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749039"/>
            <a:ext cx="64008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576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Student B opens their eyes.</a:t>
            </a:r>
            <a:br/>
            <a:r>
              <a:t>Student A gives hints without saying the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754880"/>
            <a:ext cx="640080" cy="64008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66344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Choices appear.</a:t>
            </a:r>
            <a:br/>
            <a:r>
              <a:t>If Student B picks the right one — Mission Complete!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Speaking Activity  |  CEFR A2–B1 (Progressive)  |  10 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woman riding a bicycle on a city street near a brick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Bicycle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Motorcycle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Scooter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Bicycle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pedal — ペダル（足でこぐ部分）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two wheels — 2つの車輪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Comparative: faster than ~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has two wheels. You push the pedals with your feet to move. It does not need gasoline.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person holding a colorful umbrella on a rainy street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☂️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Parasol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Umbrella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Raincoat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Umbrella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fold — 折りたたむ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above your head — 頭の上に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When + present tense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You hold it above your head when it rains. You can fold it and put it in your bag.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musician playing the violin on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Cello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Violin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Guitar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Violin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strings — 弦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bow — 弓（弦楽器を弾く道具）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Subject + have/has + noun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has strings and you use a bow to play it. You hold it under your chin. It is smaller than a cello.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person wearing sunglasses at the beach on a bright sunny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🕶️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Goggles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Sunglasses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Reading Glasses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Sunglasses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lenses — レンズ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shade — 日よけ、色の濃い部分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Relative pronoun: that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You wear them on your face outdoors. They have dark lenses that protect your eyes from the sun.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A2-B1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stack of fluffy pancakes with syrup and butter on a 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Crepe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Pancake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Waffle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Pancake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batter — 生地（液状の）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fluffy — ふわふわの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pour — 注ぐ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Comparative: thicker / fluffier than 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You make it by pouring batter on a hot pan. It is round and flat, but thicker and fluffier than a crepe. People often eat it for breakfast with syrup.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A2-B1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scientist looking through a microscope in a laboratory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Telescope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Microscope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Binoculars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Microscope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magnify — 拡大する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lens — レンズ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tiny — とても小さい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Passive: It is used to 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is used in science class to look at very tiny things. It magnifies objects that are too small for your eyes. Unlike a telescope, you look down into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A2-B1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digital thermometer showing a person's body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Thermometer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Barometer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Stopwatch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Thermometer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temperature — 温度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measure — 測る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fever — 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Interrogative: how + adjective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You use it to measure how hot or cold something is. When you are sick, your mother may put it in your mouth to check if you have a fever.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person inside a sleeping bag at a campsite in the mountains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🛏️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Blanket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Sleeping Bag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Sleeping Bag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zipper — ジッパー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insulated — 断熱された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portable — 持ち運びできる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Relative clause: which + verb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is a portable item you use when you camp outdoors. You get inside it to stay warm at night. It has a zipper and you can roll it up, unlike a blanket which has no zipper.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cup of yogurt with fruit toppings on a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Pudding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Yogurt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Ice Cream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Yogurt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fermented — 発酵した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bacteria — 細菌、バクテリア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sour — 酸っぱい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Contrast: unlike ~ / whereas 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is a dairy product made from fermented milk. It has a slightly sour taste and a creamy texture. Unlike ice cream, it is not frozen, and unlike pudding, it is made with bacteria that are good for your health.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82880"/>
            <a:ext cx="1371600" cy="64008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👀 Student A: Look &amp; Memorize!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47548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  <a:latin typeface="Calibri"/>
              </a:defRPr>
            </a:pPr>
            <a:r>
              <a:t>📷 Photo: A submarine diving deep under the ocean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6400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0">
                <a:solidFill>
                  <a:srgbClr val="000000"/>
                </a:solidFill>
                <a:latin typeface="Calibri"/>
              </a:defRPr>
            </a:pPr>
            <a:r>
              <a:t>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  <a:latin typeface="Calibri"/>
              </a:defRPr>
            </a:pPr>
            <a:r>
              <a:t>Student B: Please close your eyes!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303520"/>
            <a:ext cx="1371600" cy="731520"/>
          </a:xfrm>
          <a:prstGeom prst="round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sec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🤔 Student B: Choose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229600" cy="1280160"/>
          </a:xfrm>
          <a:prstGeom prst="roundRect">
            <a:avLst/>
          </a:prstGeom>
          <a:solidFill>
            <a:srgbClr val="00B4D8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55448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Ferry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229600" cy="1280160"/>
          </a:xfrm>
          <a:prstGeom prst="roundRect">
            <a:avLst/>
          </a:prstGeom>
          <a:solidFill>
            <a:srgbClr val="FF6B8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20040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6B8A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Submarine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8229600" cy="1280160"/>
          </a:xfrm>
          <a:prstGeom prst="roundRect">
            <a:avLst/>
          </a:prstGeom>
          <a:solidFill>
            <a:srgbClr val="87CEEB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846320"/>
            <a:ext cx="914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87CEE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5943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Cruise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✅ Correct Answer: 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3200400" cy="640080"/>
          </a:xfrm>
          <a:prstGeom prst="roundRect">
            <a:avLst/>
          </a:prstGeom>
          <a:solidFill>
            <a:srgbClr val="00B4D8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SPEAK in CIRCLES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"/>
            <a:ext cx="822960" cy="640080"/>
          </a:xfrm>
          <a:prstGeom prst="roundRect">
            <a:avLst/>
          </a:prstGeom>
          <a:solidFill>
            <a:srgbClr val="1A23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"/>
            <a:ext cx="54864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33333"/>
                </a:solidFill>
              </a:rPr>
              <a:t>⭐ Model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3931920" cy="4572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Grammar /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Answer: Submarine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dive — 潜る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60320"/>
            <a:ext cx="182880" cy="18288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surface — 水面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crew — 乗組員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4720"/>
            <a:ext cx="182880" cy="182880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38328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underwater — 水中の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5029200" cy="4572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📝 Reason clause: because ~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6984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Calibri"/>
              </a:defRPr>
            </a:pPr>
            <a:r>
              <a:t>It is a type of vessel that is designed to travel underwater. It can dive below the surface and stay there for a long time. The crew cannot open the windows because the water pressure outside is extremely high.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